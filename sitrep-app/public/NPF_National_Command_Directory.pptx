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o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05840"/>
            <a:ext cx="1371600" cy="1600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3464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100" b="1">
                <a:solidFill>
                  <a:srgbClr val="00C46A"/>
                </a:solidFill>
              </a:defRPr>
            </a:pPr>
            <a:r>
              <a:t>OFFICIAL DIRECTORY &amp; FORMATION HIERARCHY</a:t>
            </a:r>
          </a:p>
          <a:p>
            <a:pPr algn="ctr">
              <a:spcAft>
                <a:spcPts val="800"/>
              </a:spcAft>
              <a:defRPr sz="3200" b="1">
                <a:solidFill>
                  <a:srgbClr val="FFFFFF"/>
                </a:solidFill>
              </a:defRPr>
            </a:pPr>
            <a:r>
              <a:t>NIGERIA POLICE FORCE COMMAND DIRECTORY</a:t>
            </a:r>
          </a:p>
          <a:p>
            <a:pPr algn="ctr">
              <a:spcAft>
                <a:spcPts val="2000"/>
              </a:spcAft>
              <a:defRPr sz="1400">
                <a:solidFill>
                  <a:srgbClr val="0DCCB0"/>
                </a:solidFill>
              </a:defRPr>
            </a:pPr>
            <a:r>
              <a:t>Force Headquarters • 17 Zonal Commands • 37 State Commands • Area Commands • Divisions &amp; Stations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9504" y="5120640"/>
            <a:ext cx="6400800" cy="82296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Comprehensive Territorial Roster &amp; Administrative Chain of Command</a:t>
            </a:r>
          </a:p>
          <a:p>
            <a:pPr algn="ctr">
              <a:defRPr sz="950">
                <a:solidFill>
                  <a:srgbClr val="94A3B8"/>
                </a:solidFill>
              </a:defRPr>
            </a:pPr>
            <a:r>
              <a:t>Compiled from Official NPF Gazette &amp; Public Records for Election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C46A"/>
                </a:solidFill>
              </a:defRPr>
            </a:pPr>
            <a:r>
              <a:t>NIGERIA POLICE FORCE • COMMAND DIRECTORY &amp;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NPF Command Hierarchy: 5-Tier Operational Cascade</a:t>
            </a:r>
          </a:p>
        </p:txBody>
      </p:sp>
      <p:pic>
        <p:nvPicPr>
          <p:cNvPr id="6" name="Picture 5" descr="po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10725912" cy="8686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9728" cy="8686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Tier 1: Force Headquarters (FHQ) — Louis Edet House, Area 11, Garki, FCT Abuja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Led by Inspector-General of Police (IGP) assisted by 7 DIGs (Departments: Operations, Admin, Logistics, Training, Intelligence, FCID, ICT).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5912" cy="8686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109728" cy="868680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0604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0C46A"/>
                </a:solidFill>
              </a:defRPr>
            </a:pPr>
            <a:r>
              <a:t>Tier 2: 17 Zonal Commands (Zones 1-17) — Strategic regional headquarters across geopolitical zones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Headed by Assistant Inspectors-General of Police (AIG). Supervise between 2 and 3 contiguous State Police Commands.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5912" cy="8686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09728" cy="868680"/>
          </a:xfrm>
          <a:prstGeom prst="rect">
            <a:avLst/>
          </a:prstGeom>
          <a:solidFill>
            <a:srgbClr val="0D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66160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0DCCB0"/>
                </a:solidFill>
              </a:defRPr>
            </a:pPr>
            <a:r>
              <a:t>Tier 3: 37 State Police Commands — 36 State Commands + Federal Capital Territory (FCT)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Led by Commissioners of Police (CP). Exercises overall territorial security control within state borders.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10725912" cy="8686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34840"/>
            <a:ext cx="109728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79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Tier 4: Area Commands (~150+ Nationwide) — Sub-state operational hubs covering clusters of LGAs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Commanded by Assistant Commissioners of Police (ACP) or CSP. Coordinates multiple local police divisions.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59"/>
            <a:ext cx="10725912" cy="8686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94959"/>
            <a:ext cx="109728" cy="8686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86399"/>
            <a:ext cx="1024128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2E8F0"/>
                </a:solidFill>
              </a:defRPr>
            </a:pPr>
            <a:r>
              <a:t>Tier 5: Divisional Police HQs &amp; Stations — Primary grassroots frontline units embedded in communities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Led by Divisional Police Officers (DPO - CSP / SP). Directly manages Police Stations, Outposts, and Police Posts.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C46A"/>
                </a:solidFill>
              </a:defRPr>
            </a:pPr>
            <a:r>
              <a:t>NIGERIA POLICE FORCE • COMMAND DIRECTORY &amp;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Directory of 17 Zonal Police Commands (Zones 1 – 17)</a:t>
            </a:r>
          </a:p>
        </p:txBody>
      </p:sp>
      <p:pic>
        <p:nvPicPr>
          <p:cNvPr id="6" name="Picture 5" descr="po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C46A"/>
                </a:solidFill>
              </a:defRPr>
            </a:pPr>
            <a:r>
              <a:t>ZONE          HEADQUARTERS         STATE COMMANDS COVERED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1       Kano (Bompai)          Kano, Jigawa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2       Lagos (Onikan)         Lagos, Ogun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3       Yola                   Adamawa, Taraba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4       Makurdi                Benue, Plateau, Nasarawa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5       Benin City             Edo, Delta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6       Calabar                Cross River, Akwa Ibom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7       Abuja (FCT)            FCT Abuja, Niger State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8       Lokoja                 Kogi, Kwara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9       Umuahia                Abia, Imo, Ebonyi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484632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0C46A"/>
                </a:solidFill>
              </a:defRPr>
            </a:pPr>
            <a:r>
              <a:t>ZONE          HEADQUARTERS         STATE COMMANDS COVERED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10      Sokoto                 Sokoto, Kebbi, Zamfara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11      Osogbo                 Osun, Oyo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12      Bauchi                 Bauchi, Gombe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13      Ukpo / Awka            Anambra, Enugu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14      Katsina                Katsina, Kaduna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15      Maiduguri              Borno, Yobe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16      Yenagoa                Bayelsa, Rivers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Zone 17      Akure                  Ondo, Ekiti</a:t>
            </a:r>
          </a:p>
          <a:p>
            <a:pPr>
              <a:spcAft>
                <a:spcPts val="400"/>
              </a:spcAft>
              <a:defRPr sz="1000">
                <a:solidFill>
                  <a:srgbClr val="FFFFFF"/>
                </a:solidFill>
              </a:defRPr>
            </a:pPr>
            <a:r>
              <a:t>FHQ Direct   Louis Edet House       Border Patrol, Marine, Air Wing, 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C46A"/>
                </a:solidFill>
              </a:defRPr>
            </a:pPr>
            <a:r>
              <a:t>NIGERIA POLICE FORCE • COMMAND DIRECTORY &amp;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Lagos State Command: Area Commands &amp; Key Divisions</a:t>
            </a:r>
          </a:p>
        </p:txBody>
      </p:sp>
      <p:pic>
        <p:nvPicPr>
          <p:cNvPr id="6" name="Picture 5" descr="po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10725912" cy="47548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1036015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0C46A"/>
                </a:solidFill>
              </a:defRPr>
            </a:pPr>
            <a:r>
              <a:t>AREA COMMAND (HEADQUARTERS)      JURISDICTION / DISTRICT        KEY SUBORDINATE DIVISIONS &amp; STATIONS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A (Lion Building)           Lagos Island, VI, Ikoyi        Lion Bldg, Central PS, Victoria Island, Ikoyi, Onikan, Bar Beach, Adeniji Adele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B (Apapa)                   Apapa Port, Ajegunle, Ajeromi  Apapa Division, Ajegunle, Trinity, Layeni, Kirikiri, Tolu, Ijora Badia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C (Surulere)                Surulere, Yaba, Ebute Metta    Surulere Div, Yaba, Bode Thomas, Denton, Iponri, Aguda, Sabo, Orile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D (Mushin)                  Mushin, Isolo, Oshodi          Mushin Division, Isolo, Ejigbo, Ajao Estate, Aswani, Alakara, Ilasamaja, Itire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E (Festac)                  Festac Town, Ojo, Satellite    Festac Division, Ojo, Okokomaiko, Satellite Town, Trade Fair, Iba, Ajangbadi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F (Ikeja)                   State Capital, Alausa, Airport Ikeja Division, Alausa, Ojodu, Ilupeju, Shogunle, Makinde, Airport/Domestic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G (Ogba)                    Ogba, Agege, Pen Cinema        Ogba Division, Agege, Isokoko, Elere, Dopemu, Oko-Oba, Abattoir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H (Ogudu)                   Ogudu, Ketu, Ojota, Kosofe     Ogudu Division, Ketu, Alapere, Owode Onirin, Mile 12, Anthony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J (Elemoro)                 Lekki, Ajah, Epe Corridor      Ajah Division, Maroko, Ilasan, Elemoro, Ogombo, Langbasa, Epe, Akodo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K (Morogbo)                 Badagry Expressway, Border     Badagry Division, Morogbo, Ilemba Hausa, Ishashi, Ojo Border, Seme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M (Idimu)                   Alimosho, Egbe, Idimu          Idimu Division, Egbe, Ikotun, Igando, Shasha, Gowon Estate, Meiran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N (Ijede)                   Ikorodu, Sagamu Road, Imota    Ikorodu Division, Sagamu Rd, Igbogbo, Ijede, Imota, Owutu, Shagamu Interchange</a:t>
            </a:r>
          </a:p>
          <a:p>
            <a:pPr>
              <a:spcAft>
                <a:spcPts val="300"/>
              </a:spcAft>
              <a:defRPr sz="950">
                <a:solidFill>
                  <a:srgbClr val="FFFFFF"/>
                </a:solidFill>
              </a:defRPr>
            </a:pPr>
            <a:r>
              <a:t>Area P (Alagbado)                Ipaja, Ayobo, Alagbado         Alagbado Division, Ipaja, Ayobo, Abesan Estate, Meiran, Baruwa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C46A"/>
                </a:solidFill>
              </a:defRPr>
            </a:pPr>
            <a:r>
              <a:t>NIGERIA POLICE FORCE • COMMAND DIRECTORY &amp;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Federal Capital Territory (FCT) Police Command</a:t>
            </a:r>
          </a:p>
        </p:txBody>
      </p:sp>
      <p:pic>
        <p:nvPicPr>
          <p:cNvPr id="6" name="Picture 5" descr="po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10725912" cy="8686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9728" cy="868680"/>
          </a:xfrm>
          <a:prstGeom prst="rect">
            <a:avLst/>
          </a:prstGeom>
          <a:solidFill>
            <a:srgbClr val="0D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2763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Area Command Metro (Abuja City) • HQ: Maitama (Nile St) (Central Business District, Maitama, Wuse, Asokoro, Garki, Utako, Jabi, Lugbe)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Divisions: Central Police Station (CPS Fed Secretariat), Maitama Division (Nile St), Wuse Division (Wuse Zone 3), Garki Division (Garki II), Asokoro Division (AYA/Gowon Cres), Lugbe Division (Airport Rd), Utako Division, Wuye &amp; Durumi Divisions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5912" cy="8686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109728" cy="868680"/>
          </a:xfrm>
          <a:prstGeom prst="rect">
            <a:avLst/>
          </a:prstGeom>
          <a:solidFill>
            <a:srgbClr val="0D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8775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Area Command Gwagwalada • HQ: Specialist Hospital Rd (Gwagwalada Area Council, Airport Corridor, Kuje boundary)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Divisions: Gwagwalada Main Division, Gwagwalada Main Market Division, Iddo Division (Iddo Sarki / Airport Rd), Zuba Division, Tungan Maje Police Post, Dobi Police Outpost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725912" cy="8686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109728" cy="868680"/>
          </a:xfrm>
          <a:prstGeom prst="rect">
            <a:avLst/>
          </a:prstGeom>
          <a:solidFill>
            <a:srgbClr val="0D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Area Command Kubwa • HQ: Kubwa Township (Bwari/AMAC Northwest, Dei-Dei, Gwarimpa extensions)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Divisions: Kubwa Phase 4 Division, Dei-Dei Division / Building Market, Dutse Alhaji Division, Byazhin Division, Gwarimpa Division (1st &amp; 2nd Ave), Dawaki Outpost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34840"/>
            <a:ext cx="10725912" cy="8686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434840"/>
            <a:ext cx="109728" cy="868680"/>
          </a:xfrm>
          <a:prstGeom prst="rect">
            <a:avLst/>
          </a:prstGeom>
          <a:solidFill>
            <a:srgbClr val="0D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0799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Area Command Bwari • HQ: Bwari Town (Bwari Area Council, Niger/Kaduna boundary corridors)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Divisions: Bwari Main Divisional HQ, Ushafa Division, Gawu Border Post, Gidandogo Division, Kuduru Police Station, Garam Outpost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394959"/>
            <a:ext cx="10725912" cy="8686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5394959"/>
            <a:ext cx="109728" cy="868680"/>
          </a:xfrm>
          <a:prstGeom prst="rect">
            <a:avLst/>
          </a:prstGeom>
          <a:solidFill>
            <a:srgbClr val="0D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68112"/>
            <a:ext cx="102412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Karu / Karshi (Eastern Axis) • HQ: Karu / Nyanya Corridors (Abuja-Keffi Highway border axis with Nasarawa State)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Divisions: Karu Divisional HQ, Nyanya Division (Check point/Market), Jikwoyi Division, Karshi Division, Orozo Division, Kurudu Model Station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C46A"/>
                </a:solidFill>
              </a:defRPr>
            </a:pPr>
            <a:r>
              <a:t>NIGERIA POLICE FORCE • COMMAND DIRECTORY &amp;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Strategic State Commands: Area Commands &amp; Divisions</a:t>
            </a:r>
          </a:p>
        </p:txBody>
      </p:sp>
      <p:pic>
        <p:nvPicPr>
          <p:cNvPr id="6" name="Picture 5" descr="po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554480"/>
            <a:ext cx="10725912" cy="10972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54480"/>
            <a:ext cx="109728" cy="1097280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4592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Kano State Command (Zone 1) • State HQ: Bompai, Kano</a:t>
            </a:r>
          </a:p>
          <a:p>
            <a:pPr>
              <a:defRPr sz="1000" b="1">
                <a:solidFill>
                  <a:srgbClr val="0DCCB0"/>
                </a:solidFill>
              </a:defRPr>
            </a:pPr>
            <a:r>
              <a:t>Area Commands: Metro, Bichi, Wudil, Rano, Dala, Danbatta, Tudun Wada, Eastern Bypass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Key Divisions: Central PS, Bichi Division, Gwarzo, Wudil, Rano, Fagge, Sabon Gari, Nassarawa, Dala, Kwalli, Gwale, Mandawari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43200"/>
            <a:ext cx="10725912" cy="10972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109728" cy="1097280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834640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Rivers State Command (Zone 16) • State HQ: Moscow Rd, Port Harcourt</a:t>
            </a:r>
          </a:p>
          <a:p>
            <a:pPr>
              <a:defRPr sz="1000" b="1">
                <a:solidFill>
                  <a:srgbClr val="0DCCB0"/>
                </a:solidFill>
              </a:defRPr>
            </a:pPr>
            <a:r>
              <a:t>Area Commands: Port Harcourt Metro, Bori (Ogoni), Choba, Ahoada, Eleme, Oyigbo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Key Divisions: CPS Port Harcourt, Borokiri, Mile 1 Diobu, Choba Div, Rumuolumeni, Eleme, Onne, Bori, Ahoada, Omoku, Mini-Okoro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10725912" cy="10972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109728" cy="1097280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59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Kaduna State Command (Zone 14) • State HQ: Bida Rd, Kaduna</a:t>
            </a:r>
          </a:p>
          <a:p>
            <a:pPr>
              <a:defRPr sz="1000" b="1">
                <a:solidFill>
                  <a:srgbClr val="0DCCB0"/>
                </a:solidFill>
              </a:defRPr>
            </a:pPr>
            <a:r>
              <a:t>Area Commands: Kaduna Metro, Zaria, Kafanchan, Birnin Gwari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Key Divisions: Sabon Gari Div, Kabala Doki, Unguwan Rimi, Kawo, Tudun Wada, Zaria City, Danmagaji, Kafanchan, Samaru, Birnin Gwari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20640"/>
            <a:ext cx="10725912" cy="1097280"/>
          </a:xfrm>
          <a:prstGeom prst="roundRect">
            <a:avLst/>
          </a:prstGeom>
          <a:solidFill>
            <a:srgbClr val="10223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120640"/>
            <a:ext cx="109728" cy="1097280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212079"/>
            <a:ext cx="1024128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Anambra State Command (Zone 13) • State HQ: Awka</a:t>
            </a:r>
          </a:p>
          <a:p>
            <a:pPr>
              <a:defRPr sz="1000" b="1">
                <a:solidFill>
                  <a:srgbClr val="0DCCB0"/>
                </a:solidFill>
              </a:defRPr>
            </a:pPr>
            <a:r>
              <a:t>Area Commands: Awka Metro, Onitsha, Nnewi, Ihiala, Otuocha, Aguata</a:t>
            </a:r>
          </a:p>
          <a:p>
            <a:pPr>
              <a:defRPr sz="950">
                <a:solidFill>
                  <a:srgbClr val="FFFFFF"/>
                </a:solidFill>
              </a:defRPr>
            </a:pPr>
            <a:r>
              <a:t>Key Divisions: CPS Awka, B Div Awka, CPS Onitsha, Inland Town, Fegge, Okpoko, CPS Nnewi, Otolo, Ihiala, Otuocha, Aguata, Umunze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C46A"/>
                </a:solidFill>
              </a:defRPr>
            </a:pPr>
            <a:r>
              <a:t>NIGERIA POLICE FORCE • COMMAND DIRECTORY &amp;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Grassroots Structure: Divisions, Outposts &amp; Polling Units</a:t>
            </a:r>
          </a:p>
        </p:txBody>
      </p:sp>
      <p:pic>
        <p:nvPicPr>
          <p:cNvPr id="6" name="Picture 5" descr="po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0223C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3291840" cy="54864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Divisional Police Headquarters</a:t>
            </a:r>
          </a:p>
          <a:p>
            <a:pPr>
              <a:spcAft>
                <a:spcPts val="600"/>
              </a:spcAft>
              <a:defRPr sz="950" b="1">
                <a:solidFill>
                  <a:srgbClr val="00C46A"/>
                </a:solidFill>
              </a:defRPr>
            </a:pPr>
            <a:r>
              <a:t>[LOCAL COMMAND CORE]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Led by Divisional Police Officer (DPO) of CSP or SP rank.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Coordinates 24/7 patrol coverage across all wards in the division.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Maintains the Divisional Crime Branch (DCB) and operations room.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Serves as the primary logistics dispatch point for ballot box escort teams.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45920"/>
            <a:ext cx="3291840" cy="4389120"/>
          </a:xfrm>
          <a:prstGeom prst="roundRect">
            <a:avLst/>
          </a:prstGeom>
          <a:solidFill>
            <a:srgbClr val="10223C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645920"/>
            <a:ext cx="3291840" cy="54864"/>
          </a:xfrm>
          <a:prstGeom prst="rect">
            <a:avLst/>
          </a:prstGeom>
          <a:solidFill>
            <a:srgbClr val="0D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Police Stations &amp; Outposts</a:t>
            </a:r>
          </a:p>
          <a:p>
            <a:pPr>
              <a:spcAft>
                <a:spcPts val="600"/>
              </a:spcAft>
              <a:defRPr sz="950" b="1">
                <a:solidFill>
                  <a:srgbClr val="0DCCB0"/>
                </a:solidFill>
              </a:defRPr>
            </a:pPr>
            <a:r>
              <a:t>[NEIGHBORHOOD FRONT LINE]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Sub-stations commanded by Station Officers (Inspectors / ASPs).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Embedded directly in residential estates, markets, and remote towns.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Operates initial complaint charge offices and rapid-intervention cells.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Provides first-responder backup within 5–15 minutes of incident 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45920"/>
            <a:ext cx="3291840" cy="4389120"/>
          </a:xfrm>
          <a:prstGeom prst="roundRect">
            <a:avLst/>
          </a:prstGeom>
          <a:solidFill>
            <a:srgbClr val="10223C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4592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828800"/>
            <a:ext cx="28346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Polling Unit (PU) Deployment</a:t>
            </a:r>
          </a:p>
          <a:p>
            <a:pPr>
              <a:spcAft>
                <a:spcPts val="600"/>
              </a:spcAft>
              <a:defRPr sz="950" b="1">
                <a:solidFill>
                  <a:srgbClr val="F59E0B"/>
                </a:solidFill>
              </a:defRPr>
            </a:pPr>
            <a:r>
              <a:t>[GROUND POLICE DETACHMENT]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1 to 2 dedicated police officers deployed per Polling Unit.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Equipped with Election SitRep mobile PWA for hourly status submissions.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Direct link to Divisional DPO and Area Command Quick Reaction Force (QRF).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Custody of stamped EC8A tally sheets from voting close to ward collation center.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b="1">
                <a:solidFill>
                  <a:srgbClr val="00C46A"/>
                </a:solidFill>
              </a:defRPr>
            </a:pPr>
            <a:r>
              <a:t>NIGERIA POLICE FORCE • COMMAND DIRECTORY &amp; HIERARCHY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58368"/>
            <a:ext cx="9601200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Operational Integration with Election SitRep Platform</a:t>
            </a:r>
          </a:p>
        </p:txBody>
      </p:sp>
      <p:pic>
        <p:nvPicPr>
          <p:cNvPr id="6" name="Picture 5" descr="po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65760"/>
            <a:ext cx="594360" cy="685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0223C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645920"/>
            <a:ext cx="5120640" cy="54864"/>
          </a:xfrm>
          <a:prstGeom prst="rect">
            <a:avLst/>
          </a:prstGeom>
          <a:solidFill>
            <a:srgbClr val="00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1. Multi-Tiered User Roster Mapping</a:t>
            </a:r>
          </a:p>
          <a:p>
            <a:pPr>
              <a:spcAft>
                <a:spcPts val="600"/>
              </a:spcAft>
              <a:defRPr sz="950" b="1">
                <a:solidFill>
                  <a:srgbClr val="00C46A"/>
                </a:solidFill>
              </a:defRPr>
            </a:pPr>
            <a:r>
              <a:t>[ACCESS CONTROL MATRIX]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Platform user accounts are mapped directly to official NPF service numbers.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Strict territorial scoping: CP (State), ACP (Area Command), DPO (Division), PU Officer.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Ensures incident feeds and dispatch rights reflect real operational authority.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10223C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45920"/>
            <a:ext cx="51206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828800"/>
            <a:ext cx="46634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2. Instant Escalation from PU to Force HQ</a:t>
            </a:r>
          </a:p>
          <a:p>
            <a:pPr>
              <a:spcAft>
                <a:spcPts val="600"/>
              </a:spcAft>
              <a:defRPr sz="950" b="1">
                <a:solidFill>
                  <a:srgbClr val="EF4444"/>
                </a:solidFill>
              </a:defRPr>
            </a:pPr>
            <a:r>
              <a:t>[AUTOMATED ALERT CASCADE]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Critical SOS alerts from a Polling Unit instantly ring at Divisional HQ, Area Command, and State Command.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Situation Room display walls immediately highlight the distressed station on GIS map.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Eliminates latency inherent in verbal radio relay trees during high-stress moments.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39"/>
            <a:ext cx="5120640" cy="2148840"/>
          </a:xfrm>
          <a:prstGeom prst="roundRect">
            <a:avLst/>
          </a:prstGeom>
          <a:solidFill>
            <a:srgbClr val="10223C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77639"/>
            <a:ext cx="5120640" cy="54864"/>
          </a:xfrm>
          <a:prstGeom prst="rect">
            <a:avLst/>
          </a:prstGeom>
          <a:solidFill>
            <a:srgbClr val="0DC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60519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3. QRF Patrol Dispatch &amp; Geospatial Tracking</a:t>
            </a:r>
          </a:p>
          <a:p>
            <a:pPr>
              <a:spcAft>
                <a:spcPts val="600"/>
              </a:spcAft>
              <a:defRPr sz="950" b="1">
                <a:solidFill>
                  <a:srgbClr val="0DCCB0"/>
                </a:solidFill>
              </a:defRPr>
            </a:pPr>
            <a:r>
              <a:t>[RAPID INTERVENTION ENGINE]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Area Commands and Divisional HQs track standby Quick Reaction patrol vans.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Live turn-by-turn routing to affected polling stations upon distress trigger.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Visual audit trail of team mobilization, arrival on scene, and situation de-escalation.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977639"/>
            <a:ext cx="5120640" cy="2148840"/>
          </a:xfrm>
          <a:prstGeom prst="roundRect">
            <a:avLst/>
          </a:prstGeom>
          <a:solidFill>
            <a:srgbClr val="10223C"/>
          </a:solidFill>
          <a:ln w="1524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3977639"/>
            <a:ext cx="51206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160519"/>
            <a:ext cx="4663440" cy="1874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FFFFF"/>
                </a:solidFill>
              </a:defRPr>
            </a:pPr>
            <a:r>
              <a:t>4. Evidentiary Audit Trail &amp; Post-Election Report</a:t>
            </a:r>
          </a:p>
          <a:p>
            <a:pPr>
              <a:spcAft>
                <a:spcPts val="600"/>
              </a:spcAft>
              <a:defRPr sz="950" b="1">
                <a:solidFill>
                  <a:srgbClr val="F59E0B"/>
                </a:solidFill>
              </a:defRPr>
            </a:pPr>
            <a:r>
              <a:t>[LEGAL &amp; TRIBUNAL AUDIT]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Tamper-proof hash-chained records of all reports submitted across every Division.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Official EC8A result photographs archived with officer signature and timestamp.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</a:defRPr>
            </a:pPr>
            <a:r>
              <a:t>• Court-ready evidentiary bundles exportable for election petition tribunals.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